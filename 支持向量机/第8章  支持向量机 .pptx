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10" embedTrueTypeFonts="1" saveSubsetFonts="1">
  <p:sldMasterIdLst>
    <p:sldMasterId id="2147483648" r:id="rId1"/>
  </p:sldMasterIdLst>
  <p:notesMasterIdLst>
    <p:notesMasterId r:id="rId8"/>
  </p:notesMasterIdLst>
  <p:handoutMasterIdLst>
    <p:handoutMasterId r:id="rId9"/>
  </p:handoutMasterIdLst>
  <p:sldIdLst>
    <p:sldId id="553" r:id="rId3"/>
    <p:sldId id="603" r:id="rId4"/>
    <p:sldId id="569" r:id="rId5"/>
    <p:sldId id="554" r:id="rId6"/>
    <p:sldId id="593" r:id="rId7"/>
  </p:sldIdLst>
  <p:sldSz cx="12192000" cy="6858000"/>
  <p:notesSz cx="6858000" cy="9144000"/>
  <p:embeddedFontLst>
    <p:embeddedFont>
      <p:font typeface="微软雅黑" panose="020B0503020204020204" pitchFamily="34" charset="-122"/>
      <p:regular r:id="rId13"/>
    </p:embeddedFont>
    <p:embeddedFont>
      <p:font typeface="Calibri" panose="020F0502020204030204" pitchFamily="34" charset="0"/>
      <p:regular r:id="rId14"/>
      <p:bold r:id="rId15"/>
      <p:italic r:id="rId16"/>
      <p:boldItalic r:id="rId17"/>
    </p:embeddedFont>
    <p:embeddedFont>
      <p:font typeface="等线" panose="02010600030101010101" charset="-122"/>
      <p:regular r:id="rId18"/>
    </p:embeddedFont>
    <p:embeddedFont>
      <p:font typeface="Calibri Light" panose="020F0302020204030204" charset="0"/>
      <p:regular r:id="rId19"/>
      <p:italic r:id="rId20"/>
    </p:embeddedFont>
    <p:embeddedFont>
      <p:font typeface="等线 Light" panose="02010600030101010101" charset="-122"/>
      <p:regular r:id="rId21"/>
    </p:embeddedFont>
  </p:embeddedFontLst>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7" userDrawn="1">
          <p15:clr>
            <a:srgbClr val="A4A3A4"/>
          </p15:clr>
        </p15:guide>
        <p15:guide id="2" pos="39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6D9B"/>
    <a:srgbClr val="0070C0"/>
    <a:srgbClr val="809BBA"/>
    <a:srgbClr val="FFFFFF"/>
    <a:srgbClr val="F1F3F5"/>
    <a:srgbClr val="0066FF"/>
    <a:srgbClr val="0000FF"/>
    <a:srgbClr val="F71C17"/>
    <a:srgbClr val="0033CC"/>
    <a:srgbClr val="4CE1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9006" autoAdjust="0"/>
  </p:normalViewPr>
  <p:slideViewPr>
    <p:cSldViewPr showGuides="1">
      <p:cViewPr varScale="1">
        <p:scale>
          <a:sx n="115" d="100"/>
          <a:sy n="115" d="100"/>
        </p:scale>
        <p:origin x="432" y="96"/>
      </p:cViewPr>
      <p:guideLst>
        <p:guide orient="horz" pos="2237"/>
        <p:guide pos="3919"/>
      </p:guideLst>
    </p:cSldViewPr>
  </p:slideViewPr>
  <p:notesTextViewPr>
    <p:cViewPr>
      <p:scale>
        <a:sx n="1" d="1"/>
        <a:sy n="1" d="1"/>
      </p:scale>
      <p:origin x="0" y="0"/>
    </p:cViewPr>
  </p:notesTextViewPr>
  <p:notesViewPr>
    <p:cSldViewPr>
      <p:cViewPr varScale="1">
        <p:scale>
          <a:sx n="68" d="100"/>
          <a:sy n="68" d="100"/>
        </p:scale>
        <p:origin x="-2844" y="-90"/>
      </p:cViewPr>
      <p:guideLst>
        <p:guide orient="horz" pos="2983"/>
        <p:guide pos="220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handoutMaster" Target="handoutMasters/handoutMaster1.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1.xml"/><Relationship Id="rId21" Type="http://schemas.openxmlformats.org/officeDocument/2006/relationships/font" Target="fonts/font9.fntdata"/><Relationship Id="rId20" Type="http://schemas.openxmlformats.org/officeDocument/2006/relationships/font" Target="fonts/font8.fntdata"/><Relationship Id="rId2" Type="http://schemas.openxmlformats.org/officeDocument/2006/relationships/theme" Target="theme/theme1.xml"/><Relationship Id="rId19" Type="http://schemas.openxmlformats.org/officeDocument/2006/relationships/font" Target="fonts/font7.fntdata"/><Relationship Id="rId18" Type="http://schemas.openxmlformats.org/officeDocument/2006/relationships/font" Target="fonts/font6.fntdata"/><Relationship Id="rId17" Type="http://schemas.openxmlformats.org/officeDocument/2006/relationships/font" Target="fonts/font5.fntdata"/><Relationship Id="rId16" Type="http://schemas.openxmlformats.org/officeDocument/2006/relationships/font" Target="fonts/font4.fntdata"/><Relationship Id="rId15" Type="http://schemas.openxmlformats.org/officeDocument/2006/relationships/font" Target="fonts/font3.fntdata"/><Relationship Id="rId14" Type="http://schemas.openxmlformats.org/officeDocument/2006/relationships/font" Target="fonts/font2.fntdata"/><Relationship Id="rId13" Type="http://schemas.openxmlformats.org/officeDocument/2006/relationships/font" Target="fonts/font1.fntdata"/><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a:defRPr/>
            </a:pPr>
            <a:fld id="{F7CC5714-7008-4402-80B6-1C2EF4A08866}" type="datetimeFigureOut">
              <a:rPr lang="zh-CN" altLang="en-US"/>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fld id="{F1E21E8A-AAFF-4A64-85D8-740D7C7D0C7D}"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D65DD8B5-EF25-43A6-BAFE-E020BE2A822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fld id="{18F60C4C-7DF8-415C-A8F0-A3FE3438C171}"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pPr>
              <a:defRPr/>
            </a:pPr>
            <a:fld id="{EDC093BF-4F26-4D7F-AB58-23F6391132CA}"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13EC3893-EBA2-4256-8845-4EA6BB3098EE}" type="slidenum">
              <a:rPr lang="zh-CN" altLang="en-US" smtClean="0"/>
            </a:fld>
            <a:endParaRPr lang="en-US" altLang="zh-CN"/>
          </a:p>
        </p:txBody>
      </p:sp>
      <p:sp>
        <p:nvSpPr>
          <p:cNvPr id="7" name="矩形 6"/>
          <p:cNvSpPr/>
          <p:nvPr userDrawn="1"/>
        </p:nvSpPr>
        <p:spPr>
          <a:xfrm>
            <a:off x="0" y="-25758"/>
            <a:ext cx="12192000" cy="3047894"/>
          </a:xfrm>
          <a:prstGeom prst="rect">
            <a:avLst/>
          </a:prstGeom>
          <a:gradFill flip="none" rotWithShape="1">
            <a:gsLst>
              <a:gs pos="0">
                <a:schemeClr val="bg1">
                  <a:lumMod val="85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userDrawn="1"/>
        </p:nvSpPr>
        <p:spPr>
          <a:xfrm>
            <a:off x="0" y="3022139"/>
            <a:ext cx="12192000" cy="261507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Ovr>
    <a:masterClrMapping/>
  </p:clrMapOvr>
  <p:transition spd="med">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4713" y="358155"/>
            <a:ext cx="10515600" cy="910605"/>
          </a:xfrm>
        </p:spPr>
        <p:txBody>
          <a:bodyPr>
            <a:normAutofit/>
          </a:bodyPr>
          <a:lstStyle>
            <a:lvl1pPr>
              <a:defRPr sz="4000">
                <a:latin typeface="微软雅黑" panose="020B0503020204020204" pitchFamily="34" charset="-122"/>
                <a:ea typeface="微软雅黑" panose="020B0503020204020204" pitchFamily="34" charset="-122"/>
              </a:defRPr>
            </a:lvl1pPr>
          </a:lstStyle>
          <a:p>
            <a:r>
              <a:rPr lang="zh-CN" altLang="en-US" dirty="0" smtClean="0"/>
              <a:t> 单击此处编辑母版标题样式</a:t>
            </a:r>
            <a:endParaRPr lang="en-US" dirty="0"/>
          </a:p>
        </p:txBody>
      </p:sp>
      <p:sp>
        <p:nvSpPr>
          <p:cNvPr id="3" name="Content Placeholder 2"/>
          <p:cNvSpPr>
            <a:spLocks noGrp="1"/>
          </p:cNvSpPr>
          <p:nvPr>
            <p:ph idx="1" hasCustomPrompt="1"/>
          </p:nvPr>
        </p:nvSpPr>
        <p:spPr>
          <a:xfrm>
            <a:off x="931168" y="1577354"/>
            <a:ext cx="10515600" cy="4351338"/>
          </a:xfrm>
        </p:spPr>
        <p:txBody>
          <a:bodyPr/>
          <a:lstStyle>
            <a:lvl1pPr>
              <a:lnSpc>
                <a:spcPct val="150000"/>
              </a:lnSpc>
              <a:defRPr>
                <a:latin typeface="微软雅黑" panose="020B0503020204020204" pitchFamily="34" charset="-122"/>
                <a:ea typeface="微软雅黑" panose="020B0503020204020204" pitchFamily="34" charset="-122"/>
              </a:defRPr>
            </a:lvl1pPr>
            <a:lvl2pPr>
              <a:lnSpc>
                <a:spcPct val="150000"/>
              </a:lnSpc>
              <a:defRPr>
                <a:latin typeface="微软雅黑" panose="020B0503020204020204" pitchFamily="34" charset="-122"/>
                <a:ea typeface="微软雅黑" panose="020B0503020204020204" pitchFamily="34" charset="-122"/>
              </a:defRPr>
            </a:lvl2pPr>
            <a:lvl3pPr>
              <a:lnSpc>
                <a:spcPct val="150000"/>
              </a:lnSpc>
              <a:defRPr>
                <a:latin typeface="微软雅黑" panose="020B0503020204020204" pitchFamily="34" charset="-122"/>
                <a:ea typeface="微软雅黑" panose="020B0503020204020204" pitchFamily="34" charset="-122"/>
              </a:defRPr>
            </a:lvl3pPr>
            <a:lvl4pPr>
              <a:lnSpc>
                <a:spcPct val="150000"/>
              </a:lnSpc>
              <a:defRPr>
                <a:latin typeface="微软雅黑" panose="020B0503020204020204" pitchFamily="34" charset="-122"/>
                <a:ea typeface="微软雅黑" panose="020B0503020204020204" pitchFamily="34" charset="-122"/>
              </a:defRPr>
            </a:lvl4pPr>
            <a:lvl5pPr>
              <a:lnSpc>
                <a:spcPct val="150000"/>
              </a:lnSpc>
              <a:defRPr>
                <a:latin typeface="微软雅黑" panose="020B0503020204020204" pitchFamily="34" charset="-122"/>
                <a:ea typeface="微软雅黑" panose="020B0503020204020204" pitchFamily="34" charset="-122"/>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p>
            <a:pPr>
              <a:defRPr/>
            </a:pPr>
            <a:fld id="{6EA2B51F-AA32-4CB9-9678-771FDD70E908}"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CC5C90BE-D3D8-43F8-9D43-7F3A74E7A8C8}" type="slidenum">
              <a:rPr lang="zh-CN" altLang="en-US" smtClean="0"/>
            </a:fld>
            <a:endParaRPr lang="en-US" altLang="zh-CN"/>
          </a:p>
        </p:txBody>
      </p:sp>
      <p:sp>
        <p:nvSpPr>
          <p:cNvPr id="7" name="矩形 6"/>
          <p:cNvSpPr/>
          <p:nvPr userDrawn="1"/>
        </p:nvSpPr>
        <p:spPr>
          <a:xfrm>
            <a:off x="0" y="6237288"/>
            <a:ext cx="12192000" cy="62071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8" name="直接连接符 7"/>
          <p:cNvCxnSpPr/>
          <p:nvPr userDrawn="1"/>
        </p:nvCxnSpPr>
        <p:spPr>
          <a:xfrm flipH="1">
            <a:off x="623393" y="1260051"/>
            <a:ext cx="1156860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五边形 8"/>
          <p:cNvSpPr/>
          <p:nvPr userDrawn="1"/>
        </p:nvSpPr>
        <p:spPr>
          <a:xfrm>
            <a:off x="-1" y="304800"/>
            <a:ext cx="600531" cy="963960"/>
          </a:xfrm>
          <a:prstGeom prst="homePlat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燕尾形 9"/>
          <p:cNvSpPr/>
          <p:nvPr userDrawn="1"/>
        </p:nvSpPr>
        <p:spPr>
          <a:xfrm>
            <a:off x="352778" y="304800"/>
            <a:ext cx="631113" cy="963960"/>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Ovr>
    <a:masterClrMapping/>
  </p:clrMapOvr>
  <p:transition spd="med">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pPr>
              <a:defRPr/>
            </a:pPr>
            <a:fld id="{C728D213-2BE2-4510-96E7-7A9ECB472B5F}"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D6253E6B-DCF2-4969-89ED-62A604250213}"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fld id="{5B05B62D-9C49-4191-A85D-29E9212EC937}"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4FE35622-92FE-4015-A774-8C473B62BDB1}"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C94403E1-FF28-4C78-BA3A-0A56A55988D3}" type="datetime1">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fld id="{B7D8D44D-ED83-436D-AE72-C7A50339D26D}"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fld id="{E7FEE35B-8EB8-4AB1-8700-855DCC3561A7}" type="datetime1">
              <a:rPr lang="zh-CN" altLang="en-US" smtClean="0"/>
            </a:fld>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fld id="{25D3B348-CC6C-4BFF-851A-4E7A1CF640F0}"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4B008EB-EDD5-4389-A700-3E8A95667550}" type="datetime1">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fld id="{218FA277-C29A-4CF5-9AC9-335F4BE58D10}"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pPr>
              <a:defRPr/>
            </a:pPr>
            <a:fld id="{D4E21CC9-A4EF-48F2-A13B-DDBA755D0AE3}"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C07641A4-9AFC-49B2-94C5-5A0156348604}"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pPr>
              <a:defRPr/>
            </a:pPr>
            <a:fld id="{4D134F6D-652C-4558-A36C-EA46DFA70443}"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1A161506-FED0-4C2C-AEEF-B71B256E11A1}"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B0824056-F2B4-42CF-9664-9131F07F552D}"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25609EB9-27DA-4DEB-B1C3-FE33875BD98F}"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B89156BF-16F0-40E6-A88F-77F1AD4E0673}"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D01FAD16-00BE-4069-A6A2-D5DCC7B375F7}" type="slidenum">
              <a:rPr lang="zh-CN" altLang="en-US" smtClean="0"/>
            </a:fld>
            <a:endParaRPr lang="en-US" altLang="zh-CN"/>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51126E5-EDBC-4F8B-BF28-7F298367A891}" type="datetime1">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D01FAD16-00BE-4069-A6A2-D5DCC7B375F7}" type="slidenum">
              <a:rPr lang="zh-CN" altLang="en-US"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8</a:t>
            </a:r>
            <a:r>
              <a:rPr lang="zh-CN" altLang="en-US" dirty="0" smtClean="0"/>
              <a:t>.2 应用</a:t>
            </a:r>
            <a:r>
              <a:rPr lang="zh-CN" altLang="en-US" dirty="0"/>
              <a:t>实例</a:t>
            </a:r>
            <a:endParaRPr lang="zh-CN" altLang="en-US" dirty="0"/>
          </a:p>
        </p:txBody>
      </p:sp>
      <p:sp>
        <p:nvSpPr>
          <p:cNvPr id="3" name="内容占位符 2"/>
          <p:cNvSpPr>
            <a:spLocks noGrp="1"/>
          </p:cNvSpPr>
          <p:nvPr>
            <p:ph idx="1"/>
          </p:nvPr>
        </p:nvSpPr>
        <p:spPr/>
        <p:txBody>
          <a:bodyPr>
            <a:normAutofit fontScale="92500"/>
          </a:bodyPr>
          <a:lstStyle/>
          <a:p>
            <a:pPr marL="0" indent="0">
              <a:buNone/>
            </a:pPr>
            <a:r>
              <a:rPr lang="en-US" altLang="zh-CN" dirty="0" err="1"/>
              <a:t>Scikit</a:t>
            </a:r>
            <a:r>
              <a:rPr lang="en-US" altLang="zh-CN" dirty="0"/>
              <a:t>-learn</a:t>
            </a:r>
            <a:r>
              <a:rPr lang="zh-CN" altLang="en-US" dirty="0"/>
              <a:t>库包含</a:t>
            </a:r>
            <a:r>
              <a:rPr lang="en-US" altLang="zh-CN" dirty="0"/>
              <a:t>SVC</a:t>
            </a:r>
            <a:r>
              <a:rPr lang="zh-CN" altLang="en-US" dirty="0"/>
              <a:t>、</a:t>
            </a:r>
            <a:r>
              <a:rPr lang="en-US" altLang="zh-CN" dirty="0" err="1"/>
              <a:t>NuSVC</a:t>
            </a:r>
            <a:r>
              <a:rPr lang="zh-CN" altLang="en-US" dirty="0"/>
              <a:t>与</a:t>
            </a:r>
            <a:r>
              <a:rPr lang="en-US" altLang="zh-CN" dirty="0" err="1"/>
              <a:t>LinearSVC</a:t>
            </a:r>
            <a:r>
              <a:rPr lang="zh-CN" altLang="en-US" dirty="0"/>
              <a:t>三个分类模块（</a:t>
            </a:r>
            <a:r>
              <a:rPr lang="en-US" altLang="zh-CN" dirty="0"/>
              <a:t>SVC</a:t>
            </a:r>
            <a:r>
              <a:rPr lang="zh-CN" altLang="en-US" dirty="0"/>
              <a:t>与</a:t>
            </a:r>
            <a:r>
              <a:rPr lang="en-US" altLang="zh-CN" dirty="0" err="1"/>
              <a:t>NuSVC</a:t>
            </a:r>
            <a:r>
              <a:rPr lang="zh-CN" altLang="en-US" dirty="0"/>
              <a:t>基本类似，其主要区别在于损失度量方式不同，而</a:t>
            </a:r>
            <a:r>
              <a:rPr lang="en-US" altLang="zh-CN" dirty="0" err="1"/>
              <a:t>LinearSVC</a:t>
            </a:r>
            <a:r>
              <a:rPr lang="zh-CN" altLang="en-US" dirty="0"/>
              <a:t>仅用于线性可分样本）与</a:t>
            </a:r>
            <a:r>
              <a:rPr lang="en-US" altLang="zh-CN" dirty="0"/>
              <a:t>SVR</a:t>
            </a:r>
            <a:r>
              <a:rPr lang="zh-CN" altLang="en-US" dirty="0"/>
              <a:t>、</a:t>
            </a:r>
            <a:r>
              <a:rPr lang="en-US" altLang="zh-CN" dirty="0" err="1"/>
              <a:t>NuSVR</a:t>
            </a:r>
            <a:r>
              <a:rPr lang="zh-CN" altLang="en-US" dirty="0"/>
              <a:t>与</a:t>
            </a:r>
            <a:r>
              <a:rPr lang="en-US" altLang="zh-CN" dirty="0" err="1"/>
              <a:t>LinearSVR</a:t>
            </a:r>
            <a:r>
              <a:rPr lang="zh-CN" altLang="en-US" dirty="0"/>
              <a:t>三个回归模块（其区分与</a:t>
            </a:r>
            <a:r>
              <a:rPr lang="en-US" altLang="zh-CN" dirty="0"/>
              <a:t>SVC</a:t>
            </a:r>
            <a:r>
              <a:rPr lang="zh-CN" altLang="en-US" dirty="0"/>
              <a:t>、</a:t>
            </a:r>
            <a:r>
              <a:rPr lang="en-US" altLang="zh-CN" dirty="0" err="1"/>
              <a:t>NuSVC</a:t>
            </a:r>
            <a:r>
              <a:rPr lang="zh-CN" altLang="en-US" dirty="0"/>
              <a:t>与</a:t>
            </a:r>
            <a:r>
              <a:rPr lang="en-US" altLang="zh-CN" dirty="0" err="1"/>
              <a:t>LinearSVC</a:t>
            </a:r>
            <a:r>
              <a:rPr lang="zh-CN" altLang="en-US" dirty="0"/>
              <a:t>类似），其导入方式如下：</a:t>
            </a:r>
            <a:endParaRPr lang="zh-CN" altLang="en-US" dirty="0"/>
          </a:p>
          <a:p>
            <a:pPr marL="0" indent="0">
              <a:buNone/>
            </a:pPr>
            <a:r>
              <a:rPr lang="en-US" altLang="zh-CN" dirty="0">
                <a:solidFill>
                  <a:srgbClr val="FF0000"/>
                </a:solidFill>
              </a:rPr>
              <a:t>from </a:t>
            </a:r>
            <a:r>
              <a:rPr lang="en-US" altLang="zh-CN" dirty="0" err="1">
                <a:solidFill>
                  <a:srgbClr val="FF0000"/>
                </a:solidFill>
              </a:rPr>
              <a:t>sklearn.svm</a:t>
            </a:r>
            <a:r>
              <a:rPr lang="en-US" altLang="zh-CN" dirty="0">
                <a:solidFill>
                  <a:srgbClr val="FF0000"/>
                </a:solidFill>
              </a:rPr>
              <a:t> import SVC</a:t>
            </a:r>
            <a:endParaRPr lang="en-US" altLang="zh-CN" dirty="0">
              <a:solidFill>
                <a:srgbClr val="FF0000"/>
              </a:solidFill>
            </a:endParaRPr>
          </a:p>
          <a:p>
            <a:pPr marL="0" indent="0">
              <a:buNone/>
            </a:pPr>
            <a:r>
              <a:rPr lang="en-US" altLang="zh-CN" dirty="0">
                <a:solidFill>
                  <a:srgbClr val="FF0000"/>
                </a:solidFill>
              </a:rPr>
              <a:t>from </a:t>
            </a:r>
            <a:r>
              <a:rPr lang="en-US" altLang="zh-CN" dirty="0" err="1">
                <a:solidFill>
                  <a:srgbClr val="FF0000"/>
                </a:solidFill>
              </a:rPr>
              <a:t>sklearn.svm</a:t>
            </a:r>
            <a:r>
              <a:rPr lang="en-US" altLang="zh-CN" dirty="0">
                <a:solidFill>
                  <a:srgbClr val="FF0000"/>
                </a:solidFill>
              </a:rPr>
              <a:t> import SVR</a:t>
            </a:r>
            <a:endParaRPr lang="en-US" altLang="zh-CN" dirty="0">
              <a:solidFill>
                <a:srgbClr val="FF0000"/>
              </a:solidFill>
            </a:endParaRPr>
          </a:p>
          <a:p>
            <a:pPr marL="0" indent="0">
              <a:buNone/>
            </a:pPr>
            <a:endParaRPr lang="en-US" altLang="zh-CN" dirty="0"/>
          </a:p>
        </p:txBody>
      </p:sp>
      <p:sp>
        <p:nvSpPr>
          <p:cNvPr id="4" name="灯片编号占位符 3"/>
          <p:cNvSpPr>
            <a:spLocks noGrp="1"/>
          </p:cNvSpPr>
          <p:nvPr>
            <p:ph type="sldNum" sz="quarter" idx="12"/>
          </p:nvPr>
        </p:nvSpPr>
        <p:spPr/>
        <p:txBody>
          <a:bodyPr/>
          <a:lstStyle/>
          <a:p>
            <a:fld id="{CC5C90BE-D3D8-43F8-9D43-7F3A74E7A8C8}"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8</a:t>
            </a:r>
            <a:r>
              <a:rPr lang="zh-CN" altLang="en-US" dirty="0" smtClean="0"/>
              <a:t>.2 应用</a:t>
            </a:r>
            <a:r>
              <a:rPr lang="zh-CN" altLang="en-US" dirty="0"/>
              <a:t>实例</a:t>
            </a: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zh-CN" altLang="en-US" dirty="0" smtClean="0"/>
              <a:t>函数</a:t>
            </a:r>
            <a:r>
              <a:rPr lang="zh-CN" altLang="en-US" dirty="0"/>
              <a:t>原型如下：</a:t>
            </a:r>
            <a:endParaRPr lang="zh-CN" altLang="en-US" dirty="0"/>
          </a:p>
          <a:p>
            <a:pPr marL="0" indent="0">
              <a:buNone/>
            </a:pPr>
            <a:r>
              <a:rPr lang="en-US" altLang="zh-CN" dirty="0"/>
              <a:t>SVC(C=1.0, kernel='</a:t>
            </a:r>
            <a:r>
              <a:rPr lang="en-US" altLang="zh-CN" dirty="0" err="1"/>
              <a:t>rbf</a:t>
            </a:r>
            <a:r>
              <a:rPr lang="en-US" altLang="zh-CN" dirty="0"/>
              <a:t>', degree=3, gamma='auto', coef0=0.0, shrinking=True, probability=False, </a:t>
            </a:r>
            <a:r>
              <a:rPr lang="en-US" altLang="zh-CN" dirty="0" err="1"/>
              <a:t>tol</a:t>
            </a:r>
            <a:r>
              <a:rPr lang="en-US" altLang="zh-CN" dirty="0"/>
              <a:t>=0.001, </a:t>
            </a:r>
            <a:r>
              <a:rPr lang="en-US" altLang="zh-CN" dirty="0" err="1"/>
              <a:t>cache_size</a:t>
            </a:r>
            <a:r>
              <a:rPr lang="en-US" altLang="zh-CN" dirty="0"/>
              <a:t>=200, </a:t>
            </a:r>
            <a:r>
              <a:rPr lang="en-US" altLang="zh-CN" dirty="0" err="1"/>
              <a:t>class_weight</a:t>
            </a:r>
            <a:r>
              <a:rPr lang="en-US" altLang="zh-CN" dirty="0"/>
              <a:t>=None, verbose=False, </a:t>
            </a:r>
            <a:r>
              <a:rPr lang="en-US" altLang="zh-CN" dirty="0" err="1"/>
              <a:t>max_iter</a:t>
            </a:r>
            <a:r>
              <a:rPr lang="en-US" altLang="zh-CN" dirty="0"/>
              <a:t>=-1, </a:t>
            </a:r>
            <a:r>
              <a:rPr lang="en-US" altLang="zh-CN" dirty="0" err="1"/>
              <a:t>decision_function_shape</a:t>
            </a:r>
            <a:r>
              <a:rPr lang="en-US" altLang="zh-CN" dirty="0"/>
              <a:t>='</a:t>
            </a:r>
            <a:r>
              <a:rPr lang="en-US" altLang="zh-CN" dirty="0" err="1"/>
              <a:t>ovr</a:t>
            </a:r>
            <a:r>
              <a:rPr lang="en-US" altLang="zh-CN" dirty="0"/>
              <a:t>', </a:t>
            </a:r>
            <a:r>
              <a:rPr lang="en-US" altLang="zh-CN" dirty="0" err="1"/>
              <a:t>random_state</a:t>
            </a:r>
            <a:r>
              <a:rPr lang="en-US" altLang="zh-CN" dirty="0"/>
              <a:t>=None)</a:t>
            </a:r>
            <a:endParaRPr lang="en-US" altLang="zh-CN" dirty="0"/>
          </a:p>
          <a:p>
            <a:pPr marL="0" indent="0">
              <a:buNone/>
            </a:pPr>
            <a:r>
              <a:rPr lang="en-US" altLang="zh-CN" dirty="0"/>
              <a:t>SVR(kernel='</a:t>
            </a:r>
            <a:r>
              <a:rPr lang="en-US" altLang="zh-CN" dirty="0" err="1"/>
              <a:t>rbf</a:t>
            </a:r>
            <a:r>
              <a:rPr lang="en-US" altLang="zh-CN" dirty="0"/>
              <a:t>', degree=3, gamma='</a:t>
            </a:r>
            <a:r>
              <a:rPr lang="en-US" altLang="zh-CN" dirty="0" err="1"/>
              <a:t>auto_deprecated</a:t>
            </a:r>
            <a:r>
              <a:rPr lang="en-US" altLang="zh-CN" dirty="0"/>
              <a:t>', coef0=0.0, </a:t>
            </a:r>
            <a:r>
              <a:rPr lang="en-US" altLang="zh-CN" dirty="0" err="1"/>
              <a:t>tol</a:t>
            </a:r>
            <a:r>
              <a:rPr lang="en-US" altLang="zh-CN" dirty="0"/>
              <a:t>=0.001, C=1.0, epsilon=0.1, shrinking=True, </a:t>
            </a:r>
            <a:r>
              <a:rPr lang="en-US" altLang="zh-CN" dirty="0" err="1"/>
              <a:t>cache_size</a:t>
            </a:r>
            <a:r>
              <a:rPr lang="en-US" altLang="zh-CN" dirty="0"/>
              <a:t>=200, verbose=False, </a:t>
            </a:r>
            <a:r>
              <a:rPr lang="en-US" altLang="zh-CN" dirty="0" err="1"/>
              <a:t>max_iter</a:t>
            </a:r>
            <a:r>
              <a:rPr lang="en-US" altLang="zh-CN" dirty="0"/>
              <a:t>=-1)</a:t>
            </a:r>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fld id="{CC5C90BE-D3D8-43F8-9D43-7F3A74E7A8C8}"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8</a:t>
            </a:r>
            <a:r>
              <a:rPr lang="zh-CN" altLang="en-US" dirty="0" smtClean="0"/>
              <a:t>.2</a:t>
            </a:r>
            <a:r>
              <a:rPr lang="en-US" altLang="zh-CN" dirty="0" smtClean="0"/>
              <a:t>.1 </a:t>
            </a:r>
            <a:r>
              <a:rPr lang="zh-CN" altLang="en-US" dirty="0" smtClean="0"/>
              <a:t>参数</a:t>
            </a:r>
            <a:r>
              <a:rPr lang="zh-CN" altLang="en-US" dirty="0"/>
              <a:t>分析</a:t>
            </a:r>
            <a:endParaRPr lang="zh-CN" altLang="en-US" dirty="0"/>
          </a:p>
        </p:txBody>
      </p:sp>
      <p:sp>
        <p:nvSpPr>
          <p:cNvPr id="3" name="内容占位符 2"/>
          <p:cNvSpPr>
            <a:spLocks noGrp="1"/>
          </p:cNvSpPr>
          <p:nvPr>
            <p:ph idx="1"/>
          </p:nvPr>
        </p:nvSpPr>
        <p:spPr>
          <a:xfrm>
            <a:off x="767408" y="1577354"/>
            <a:ext cx="10679360" cy="4659958"/>
          </a:xfrm>
        </p:spPr>
        <p:txBody>
          <a:bodyPr>
            <a:normAutofit fontScale="85000" lnSpcReduction="20000"/>
          </a:bodyPr>
          <a:lstStyle/>
          <a:p>
            <a:r>
              <a:rPr lang="zh-CN" altLang="en-US" dirty="0"/>
              <a:t>在利用</a:t>
            </a:r>
            <a:r>
              <a:rPr lang="en-US" altLang="zh-CN" dirty="0"/>
              <a:t>SVM</a:t>
            </a:r>
            <a:r>
              <a:rPr lang="zh-CN" altLang="en-US" dirty="0"/>
              <a:t>解决具体分类或回归问题时，通过需要根据相关数据的分布形态选择合理的核函数、</a:t>
            </a:r>
            <a:r>
              <a:rPr lang="en-US" altLang="zh-CN" dirty="0"/>
              <a:t>C</a:t>
            </a:r>
            <a:r>
              <a:rPr lang="zh-CN" altLang="en-US" dirty="0"/>
              <a:t>与</a:t>
            </a:r>
            <a:r>
              <a:rPr lang="en-US" altLang="zh-CN" dirty="0"/>
              <a:t>gamma</a:t>
            </a:r>
            <a:r>
              <a:rPr lang="zh-CN" altLang="en-US" dirty="0"/>
              <a:t>值等参数并对相关结果进行可视化，进而提高分类或回归问题求解的可靠性与精度。</a:t>
            </a:r>
            <a:endParaRPr lang="zh-CN" altLang="en-US" dirty="0"/>
          </a:p>
          <a:p>
            <a:r>
              <a:rPr lang="zh-CN" altLang="en-US" dirty="0"/>
              <a:t>（</a:t>
            </a:r>
            <a:r>
              <a:rPr lang="en-US" altLang="zh-CN" dirty="0"/>
              <a:t>1</a:t>
            </a:r>
            <a:r>
              <a:rPr lang="zh-CN" altLang="en-US" dirty="0"/>
              <a:t>）问题描述</a:t>
            </a:r>
            <a:endParaRPr lang="zh-CN" altLang="en-US" dirty="0"/>
          </a:p>
          <a:p>
            <a:r>
              <a:rPr lang="zh-CN" altLang="en-US" dirty="0"/>
              <a:t>首先构造两类样本，然后利用</a:t>
            </a:r>
            <a:r>
              <a:rPr lang="en-US" altLang="zh-CN" dirty="0"/>
              <a:t>SVM</a:t>
            </a:r>
            <a:r>
              <a:rPr lang="zh-CN" altLang="en-US" dirty="0"/>
              <a:t>对其进行分类与可视化，具体要求如下：</a:t>
            </a:r>
            <a:endParaRPr lang="zh-CN" altLang="en-US" dirty="0"/>
          </a:p>
          <a:p>
            <a:r>
              <a:rPr lang="zh-CN" altLang="en-US" dirty="0"/>
              <a:t>①绘制不同核函数、</a:t>
            </a:r>
            <a:r>
              <a:rPr lang="en-US" altLang="zh-CN" dirty="0"/>
              <a:t>C</a:t>
            </a:r>
            <a:r>
              <a:rPr lang="zh-CN" altLang="en-US" dirty="0"/>
              <a:t>与</a:t>
            </a:r>
            <a:r>
              <a:rPr lang="en-US" altLang="zh-CN" dirty="0"/>
              <a:t>gamma</a:t>
            </a:r>
            <a:r>
              <a:rPr lang="zh-CN" altLang="en-US" dirty="0"/>
              <a:t>值时相应的分类界线。</a:t>
            </a:r>
            <a:endParaRPr lang="zh-CN" altLang="en-US" dirty="0"/>
          </a:p>
          <a:p>
            <a:r>
              <a:rPr lang="zh-CN" altLang="en-US" dirty="0"/>
              <a:t>②显示样本分类结果及相应的支持向量。</a:t>
            </a:r>
            <a:endParaRPr lang="zh-CN" altLang="en-US" dirty="0"/>
          </a:p>
          <a:p>
            <a:r>
              <a:rPr lang="zh-CN" altLang="en-US" dirty="0"/>
              <a:t>（</a:t>
            </a:r>
            <a:r>
              <a:rPr lang="en-US" altLang="zh-CN" dirty="0"/>
              <a:t>2</a:t>
            </a:r>
            <a:r>
              <a:rPr lang="zh-CN" altLang="en-US" dirty="0"/>
              <a:t>）编程</a:t>
            </a:r>
            <a:r>
              <a:rPr lang="zh-CN" altLang="en-US" dirty="0" smtClean="0"/>
              <a:t>实现      见</a:t>
            </a:r>
            <a:r>
              <a:rPr lang="en-US" altLang="zh-CN" dirty="0"/>
              <a:t>8</a:t>
            </a:r>
            <a:r>
              <a:rPr lang="zh-CN" altLang="en-US" dirty="0"/>
              <a:t>.2</a:t>
            </a:r>
            <a:r>
              <a:rPr lang="en-US" altLang="zh-CN" dirty="0"/>
              <a:t>.1 </a:t>
            </a:r>
            <a:r>
              <a:rPr lang="zh-CN" altLang="en-US" dirty="0"/>
              <a:t>参数</a:t>
            </a:r>
            <a:r>
              <a:rPr lang="zh-CN" altLang="en-US" dirty="0" smtClean="0"/>
              <a:t>分析</a:t>
            </a:r>
            <a:r>
              <a:rPr lang="en-US" altLang="zh-CN" dirty="0" smtClean="0"/>
              <a:t>.</a:t>
            </a:r>
            <a:r>
              <a:rPr lang="en-US" altLang="zh-CN" dirty="0" err="1" smtClean="0"/>
              <a:t>py</a:t>
            </a:r>
            <a:endParaRPr lang="zh-CN" altLang="en-US" dirty="0"/>
          </a:p>
          <a:p>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fld id="{CC5C90BE-D3D8-43F8-9D43-7F3A74E7A8C8}"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 8</a:t>
            </a:r>
            <a:r>
              <a:rPr lang="zh-CN" altLang="en-US" dirty="0" smtClean="0"/>
              <a:t>.2</a:t>
            </a:r>
            <a:r>
              <a:rPr lang="en-US" altLang="zh-CN" dirty="0" smtClean="0"/>
              <a:t>.2</a:t>
            </a:r>
            <a:r>
              <a:rPr lang="zh-CN" altLang="en-US" dirty="0"/>
              <a:t>在线教学分析</a:t>
            </a:r>
            <a:endParaRPr lang="zh-CN" altLang="en-US" dirty="0"/>
          </a:p>
        </p:txBody>
      </p:sp>
      <p:sp>
        <p:nvSpPr>
          <p:cNvPr id="3" name="内容占位符 2"/>
          <p:cNvSpPr>
            <a:spLocks noGrp="1"/>
          </p:cNvSpPr>
          <p:nvPr>
            <p:ph idx="1"/>
          </p:nvPr>
        </p:nvSpPr>
        <p:spPr/>
        <p:txBody>
          <a:bodyPr>
            <a:normAutofit fontScale="62500" lnSpcReduction="20000"/>
          </a:bodyPr>
          <a:lstStyle/>
          <a:p>
            <a:pPr marL="0" indent="0">
              <a:buNone/>
            </a:pPr>
            <a:r>
              <a:rPr lang="zh-CN" altLang="en-US" dirty="0" smtClean="0"/>
              <a:t>（</a:t>
            </a:r>
            <a:r>
              <a:rPr lang="en-US" altLang="zh-CN" dirty="0"/>
              <a:t>1</a:t>
            </a:r>
            <a:r>
              <a:rPr lang="zh-CN" altLang="en-US" dirty="0"/>
              <a:t>）问题描述</a:t>
            </a:r>
            <a:endParaRPr lang="zh-CN" altLang="en-US" dirty="0"/>
          </a:p>
          <a:p>
            <a:r>
              <a:rPr lang="zh-CN" altLang="en-US" dirty="0"/>
              <a:t>已知影响学生在线教学适应度（</a:t>
            </a:r>
            <a:r>
              <a:rPr lang="en-US" altLang="zh-CN" dirty="0"/>
              <a:t>Y: </a:t>
            </a:r>
            <a:r>
              <a:rPr lang="en-US" altLang="zh-CN" dirty="0" err="1"/>
              <a:t>Adaptivity</a:t>
            </a:r>
            <a:r>
              <a:rPr lang="en-US" altLang="zh-CN" dirty="0"/>
              <a:t> Level</a:t>
            </a:r>
            <a:r>
              <a:rPr lang="zh-CN" altLang="en-US" dirty="0"/>
              <a:t>）的相关因素包括性别（</a:t>
            </a:r>
            <a:r>
              <a:rPr lang="en-US" altLang="zh-CN" dirty="0"/>
              <a:t>F1: Gender</a:t>
            </a:r>
            <a:r>
              <a:rPr lang="zh-CN" altLang="en-US" dirty="0"/>
              <a:t>）、</a:t>
            </a:r>
            <a:r>
              <a:rPr lang="en-US" altLang="zh-CN" dirty="0"/>
              <a:t>IT</a:t>
            </a:r>
            <a:r>
              <a:rPr lang="zh-CN" altLang="en-US" dirty="0"/>
              <a:t>专业（</a:t>
            </a:r>
            <a:r>
              <a:rPr lang="en-US" altLang="zh-CN" dirty="0"/>
              <a:t>F2: IT Student</a:t>
            </a:r>
            <a:r>
              <a:rPr lang="zh-CN" altLang="en-US" dirty="0"/>
              <a:t>）、经济条件（</a:t>
            </a:r>
            <a:r>
              <a:rPr lang="en-US" altLang="zh-CN" dirty="0"/>
              <a:t>F3: Financial Condition</a:t>
            </a:r>
            <a:r>
              <a:rPr lang="zh-CN" altLang="en-US" dirty="0"/>
              <a:t>）、互联网类型（</a:t>
            </a:r>
            <a:r>
              <a:rPr lang="en-US" altLang="zh-CN" dirty="0"/>
              <a:t>F4: Internet Type</a:t>
            </a:r>
            <a:r>
              <a:rPr lang="zh-CN" altLang="en-US" dirty="0"/>
              <a:t>）、网络类型（</a:t>
            </a:r>
            <a:r>
              <a:rPr lang="en-US" altLang="zh-CN" dirty="0"/>
              <a:t>F5: Network Type</a:t>
            </a:r>
            <a:r>
              <a:rPr lang="zh-CN" altLang="en-US" dirty="0"/>
              <a:t>）与上网设备（</a:t>
            </a:r>
            <a:r>
              <a:rPr lang="en-US" altLang="zh-CN" dirty="0"/>
              <a:t>F6: Device</a:t>
            </a:r>
            <a:r>
              <a:rPr lang="zh-CN" altLang="en-US" dirty="0"/>
              <a:t>），利用如表</a:t>
            </a:r>
            <a:r>
              <a:rPr lang="en-US" altLang="zh-CN" dirty="0"/>
              <a:t>8-4</a:t>
            </a:r>
            <a:r>
              <a:rPr lang="zh-CN" altLang="en-US" dirty="0"/>
              <a:t>所示数据构建学生在线教学适应度分析模型以对学生在线教学适应度进行预测（</a:t>
            </a:r>
            <a:r>
              <a:rPr lang="en-US" altLang="zh-CN" dirty="0"/>
              <a:t>Y</a:t>
            </a:r>
            <a:r>
              <a:rPr lang="zh-CN" altLang="en-US" dirty="0"/>
              <a:t>取值</a:t>
            </a:r>
            <a:r>
              <a:rPr lang="en-US" altLang="zh-CN" dirty="0"/>
              <a:t>High</a:t>
            </a:r>
            <a:r>
              <a:rPr lang="zh-CN" altLang="en-US" dirty="0"/>
              <a:t>、</a:t>
            </a:r>
            <a:r>
              <a:rPr lang="en-US" altLang="zh-CN" dirty="0"/>
              <a:t>Moderate</a:t>
            </a:r>
            <a:r>
              <a:rPr lang="zh-CN" altLang="en-US" dirty="0"/>
              <a:t>与</a:t>
            </a:r>
            <a:r>
              <a:rPr lang="en-US" altLang="zh-CN" dirty="0"/>
              <a:t>Low</a:t>
            </a:r>
            <a:r>
              <a:rPr lang="zh-CN" altLang="en-US" dirty="0"/>
              <a:t>分别表示高、中与低三种类别的适应度），具体要求如下：</a:t>
            </a:r>
            <a:endParaRPr lang="zh-CN" altLang="en-US" dirty="0"/>
          </a:p>
          <a:p>
            <a:r>
              <a:rPr lang="zh-CN" altLang="en-US" dirty="0"/>
              <a:t>①构建训练样本（</a:t>
            </a:r>
            <a:r>
              <a:rPr lang="en-US" altLang="zh-CN" dirty="0"/>
              <a:t>70%</a:t>
            </a:r>
            <a:r>
              <a:rPr lang="zh-CN" altLang="en-US" dirty="0"/>
              <a:t>）与测试样本（</a:t>
            </a:r>
            <a:r>
              <a:rPr lang="en-US" altLang="zh-CN" dirty="0"/>
              <a:t>30%</a:t>
            </a:r>
            <a:r>
              <a:rPr lang="zh-CN" altLang="en-US" dirty="0"/>
              <a:t>）以进行支持向量机模型的训练与测试。</a:t>
            </a:r>
            <a:endParaRPr lang="zh-CN" altLang="en-US" dirty="0"/>
          </a:p>
          <a:p>
            <a:r>
              <a:rPr lang="zh-CN" altLang="en-US" dirty="0"/>
              <a:t>②利用交叉验证方式确定支持向量机最优参数并求取最优参数相应的预测精度。</a:t>
            </a:r>
            <a:endParaRPr lang="zh-CN" altLang="en-US" dirty="0"/>
          </a:p>
          <a:p>
            <a:r>
              <a:rPr lang="zh-CN" altLang="en-US" dirty="0"/>
              <a:t>③利用主成分析方法对数据进行降维处理并重复步骤</a:t>
            </a:r>
            <a:r>
              <a:rPr lang="en-US" altLang="zh-CN" dirty="0"/>
              <a:t>2</a:t>
            </a:r>
            <a:r>
              <a:rPr lang="zh-CN" altLang="en-US" dirty="0"/>
              <a:t>以观察两种情况下模型预测精度的变化</a:t>
            </a:r>
            <a:r>
              <a:rPr lang="zh-CN" altLang="en-US" dirty="0" smtClean="0"/>
              <a:t>。</a:t>
            </a:r>
            <a:endParaRPr lang="en-US" altLang="zh-CN" dirty="0" smtClean="0"/>
          </a:p>
          <a:p>
            <a:pPr marL="0" indent="0">
              <a:buNone/>
            </a:pPr>
            <a:r>
              <a:rPr lang="zh-CN" altLang="zh-CN" dirty="0"/>
              <a:t>（</a:t>
            </a:r>
            <a:r>
              <a:rPr lang="en-US" altLang="zh-CN" dirty="0"/>
              <a:t>2</a:t>
            </a:r>
            <a:r>
              <a:rPr lang="zh-CN" altLang="zh-CN" dirty="0"/>
              <a:t>）编码</a:t>
            </a:r>
            <a:r>
              <a:rPr lang="zh-CN" altLang="zh-CN" dirty="0" smtClean="0"/>
              <a:t>实现</a:t>
            </a:r>
            <a:r>
              <a:rPr lang="en-US" altLang="zh-CN" dirty="0" smtClean="0"/>
              <a:t>     </a:t>
            </a:r>
            <a:r>
              <a:rPr lang="zh-CN" altLang="en-US" dirty="0" smtClean="0"/>
              <a:t>见</a:t>
            </a:r>
            <a:r>
              <a:rPr lang="en-US" altLang="zh-CN" dirty="0" smtClean="0"/>
              <a:t>8.2.2</a:t>
            </a:r>
            <a:r>
              <a:rPr lang="zh-CN" altLang="en-US" dirty="0"/>
              <a:t>在线教学</a:t>
            </a:r>
            <a:r>
              <a:rPr lang="zh-CN" altLang="en-US" dirty="0" smtClean="0"/>
              <a:t>分析</a:t>
            </a:r>
            <a:r>
              <a:rPr lang="en-US" altLang="zh-CN" dirty="0" smtClean="0"/>
              <a:t>.</a:t>
            </a:r>
            <a:r>
              <a:rPr lang="en-US" altLang="zh-CN" dirty="0" err="1" smtClean="0"/>
              <a:t>py</a:t>
            </a:r>
            <a:endParaRPr lang="en-US" altLang="zh-CN" dirty="0"/>
          </a:p>
          <a:p>
            <a:endParaRPr lang="zh-CN" altLang="en-US" dirty="0"/>
          </a:p>
          <a:p>
            <a:endParaRPr lang="zh-CN" altLang="en-US" dirty="0" smtClean="0"/>
          </a:p>
          <a:p>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CC5C90BE-D3D8-43F8-9D43-7F3A74E7A8C8}"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 8</a:t>
            </a:r>
            <a:r>
              <a:rPr lang="zh-CN" altLang="en-US" dirty="0" smtClean="0"/>
              <a:t>.2</a:t>
            </a:r>
            <a:r>
              <a:rPr lang="en-US" altLang="zh-CN" dirty="0" smtClean="0"/>
              <a:t>.3 </a:t>
            </a:r>
            <a:r>
              <a:rPr lang="zh-CN" altLang="en-US" dirty="0" smtClean="0"/>
              <a:t>幸福</a:t>
            </a:r>
            <a:r>
              <a:rPr lang="zh-CN" altLang="en-US" dirty="0"/>
              <a:t>指数预测</a:t>
            </a:r>
            <a:endParaRPr lang="zh-CN" altLang="en-US" dirty="0"/>
          </a:p>
        </p:txBody>
      </p:sp>
      <p:sp>
        <p:nvSpPr>
          <p:cNvPr id="3" name="内容占位符 2"/>
          <p:cNvSpPr>
            <a:spLocks noGrp="1"/>
          </p:cNvSpPr>
          <p:nvPr>
            <p:ph idx="1"/>
          </p:nvPr>
        </p:nvSpPr>
        <p:spPr/>
        <p:txBody>
          <a:bodyPr>
            <a:normAutofit fontScale="70000" lnSpcReduction="20000"/>
          </a:bodyPr>
          <a:lstStyle/>
          <a:p>
            <a:r>
              <a:rPr lang="en-US" altLang="zh-CN" dirty="0"/>
              <a:t>SVM</a:t>
            </a:r>
            <a:r>
              <a:rPr lang="zh-CN" altLang="en-US" dirty="0"/>
              <a:t>回归库包括</a:t>
            </a:r>
            <a:r>
              <a:rPr lang="en-US" altLang="zh-CN" dirty="0"/>
              <a:t>SVR</a:t>
            </a:r>
            <a:r>
              <a:rPr lang="zh-CN" altLang="en-US" dirty="0"/>
              <a:t>、</a:t>
            </a:r>
            <a:r>
              <a:rPr lang="en-US" altLang="zh-CN" dirty="0" err="1"/>
              <a:t>NuSVR</a:t>
            </a:r>
            <a:r>
              <a:rPr lang="zh-CN" altLang="en-US" dirty="0"/>
              <a:t>和</a:t>
            </a:r>
            <a:r>
              <a:rPr lang="en-US" altLang="zh-CN" dirty="0" err="1"/>
              <a:t>LinearSVR</a:t>
            </a:r>
            <a:r>
              <a:rPr lang="zh-CN" altLang="en-US" dirty="0"/>
              <a:t>三个类，其中，</a:t>
            </a:r>
            <a:r>
              <a:rPr lang="en-US" altLang="zh-CN" dirty="0"/>
              <a:t>SVR</a:t>
            </a:r>
            <a:r>
              <a:rPr lang="zh-CN" altLang="en-US" dirty="0"/>
              <a:t>和</a:t>
            </a:r>
            <a:r>
              <a:rPr lang="en-US" altLang="zh-CN" dirty="0" err="1"/>
              <a:t>NuSVR</a:t>
            </a:r>
            <a:r>
              <a:rPr lang="zh-CN" altLang="en-US" dirty="0"/>
              <a:t>的区别也仅在于对损失的度量方式不同；</a:t>
            </a:r>
            <a:r>
              <a:rPr lang="en-US" altLang="zh-CN" dirty="0" err="1"/>
              <a:t>LinearSVR</a:t>
            </a:r>
            <a:r>
              <a:rPr lang="zh-CN" altLang="en-US" dirty="0"/>
              <a:t>是线性回归，只能使用线性核函数</a:t>
            </a:r>
            <a:r>
              <a:rPr lang="zh-CN" altLang="en-US" dirty="0" smtClean="0"/>
              <a:t>。</a:t>
            </a:r>
            <a:endParaRPr lang="en-US" altLang="zh-CN" dirty="0" smtClean="0"/>
          </a:p>
          <a:p>
            <a:pPr marL="0" indent="0">
              <a:buNone/>
            </a:pPr>
            <a:r>
              <a:rPr lang="zh-CN" altLang="en-US" dirty="0" smtClean="0"/>
              <a:t>（</a:t>
            </a:r>
            <a:r>
              <a:rPr lang="en-US" altLang="zh-CN" dirty="0"/>
              <a:t>1</a:t>
            </a:r>
            <a:r>
              <a:rPr lang="zh-CN" altLang="en-US" dirty="0"/>
              <a:t>）问题描述</a:t>
            </a:r>
            <a:endParaRPr lang="zh-CN" altLang="en-US" dirty="0"/>
          </a:p>
          <a:p>
            <a:r>
              <a:rPr lang="zh-CN" altLang="en-US" dirty="0"/>
              <a:t>已知影响人们幸福指数（</a:t>
            </a:r>
            <a:r>
              <a:rPr lang="en-US" altLang="zh-CN" dirty="0"/>
              <a:t>Y: </a:t>
            </a:r>
            <a:r>
              <a:rPr lang="en-US" altLang="zh-CN" dirty="0" err="1"/>
              <a:t>happyScore</a:t>
            </a:r>
            <a:r>
              <a:rPr lang="zh-CN" altLang="en-US" dirty="0"/>
              <a:t>）的相关因素包括平均收入（</a:t>
            </a:r>
            <a:r>
              <a:rPr lang="en-US" altLang="zh-CN" dirty="0"/>
              <a:t>F1: </a:t>
            </a:r>
            <a:r>
              <a:rPr lang="en-US" altLang="zh-CN" dirty="0" err="1"/>
              <a:t>avg_income</a:t>
            </a:r>
            <a:r>
              <a:rPr lang="zh-CN" altLang="en-US" dirty="0"/>
              <a:t>）、中等收入（</a:t>
            </a:r>
            <a:r>
              <a:rPr lang="en-US" altLang="zh-CN" dirty="0"/>
              <a:t>F2: </a:t>
            </a:r>
            <a:r>
              <a:rPr lang="en-US" altLang="zh-CN" dirty="0" err="1"/>
              <a:t>median_income</a:t>
            </a:r>
            <a:r>
              <a:rPr lang="zh-CN" altLang="en-US" dirty="0"/>
              <a:t>）、收入不平衡度（</a:t>
            </a:r>
            <a:r>
              <a:rPr lang="en-US" altLang="zh-CN" dirty="0"/>
              <a:t>F3: </a:t>
            </a:r>
            <a:r>
              <a:rPr lang="en-US" altLang="zh-CN" dirty="0" err="1"/>
              <a:t>income_inequality</a:t>
            </a:r>
            <a:r>
              <a:rPr lang="zh-CN" altLang="en-US" dirty="0"/>
              <a:t>），利用如表</a:t>
            </a:r>
            <a:r>
              <a:rPr lang="en-US" altLang="zh-CN" dirty="0"/>
              <a:t>8-5</a:t>
            </a:r>
            <a:r>
              <a:rPr lang="zh-CN" altLang="en-US" dirty="0"/>
              <a:t>所示数据构建幸福指数预测模型以对人们幸福指数进行预测，具体要求如下：</a:t>
            </a:r>
            <a:endParaRPr lang="zh-CN" altLang="en-US" dirty="0"/>
          </a:p>
          <a:p>
            <a:r>
              <a:rPr lang="zh-CN" altLang="en-US" dirty="0"/>
              <a:t>①对不同特征之间以及特征与输出之间的相关性进行分析。</a:t>
            </a:r>
            <a:endParaRPr lang="zh-CN" altLang="en-US" dirty="0"/>
          </a:p>
          <a:p>
            <a:r>
              <a:rPr lang="zh-CN" altLang="en-US" dirty="0"/>
              <a:t>②构建幸福指数预测模型并对比不同Ｃ值时的拟合优度</a:t>
            </a:r>
            <a:r>
              <a:rPr lang="zh-CN" altLang="en-US" dirty="0" smtClean="0"/>
              <a:t>。</a:t>
            </a:r>
            <a:endParaRPr lang="en-US" altLang="zh-CN" dirty="0" smtClean="0"/>
          </a:p>
          <a:p>
            <a:pPr marL="0" indent="0">
              <a:buNone/>
            </a:pPr>
            <a:r>
              <a:rPr lang="zh-CN" altLang="en-US" dirty="0" smtClean="0"/>
              <a:t>（</a:t>
            </a:r>
            <a:r>
              <a:rPr lang="en-US" altLang="zh-CN" dirty="0" smtClean="0"/>
              <a:t>2</a:t>
            </a:r>
            <a:r>
              <a:rPr lang="zh-CN" altLang="en-US" dirty="0" smtClean="0"/>
              <a:t>）编程</a:t>
            </a:r>
            <a:r>
              <a:rPr lang="zh-CN" altLang="en-US" dirty="0" smtClean="0"/>
              <a:t>实现   </a:t>
            </a:r>
            <a:r>
              <a:rPr lang="zh-CN" altLang="en-US" dirty="0"/>
              <a:t>见</a:t>
            </a:r>
            <a:r>
              <a:rPr lang="en-US" altLang="zh-CN" dirty="0" smtClean="0"/>
              <a:t>8.2.3 </a:t>
            </a:r>
            <a:r>
              <a:rPr lang="zh-CN" altLang="en-US" dirty="0"/>
              <a:t>幸福指数预测</a:t>
            </a:r>
            <a:r>
              <a:rPr lang="en-US" altLang="zh-CN" dirty="0"/>
              <a:t>.</a:t>
            </a:r>
            <a:r>
              <a:rPr lang="en-US" altLang="zh-CN" dirty="0" err="1"/>
              <a:t>py</a:t>
            </a:r>
            <a:endParaRPr lang="zh-CN" altLang="en-US" dirty="0"/>
          </a:p>
          <a:p>
            <a:endParaRPr lang="zh-CN" altLang="en-US" dirty="0" smtClean="0"/>
          </a:p>
          <a:p>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CC5C90BE-D3D8-43F8-9D43-7F3A74E7A8C8}" type="slidenum">
              <a:rPr lang="zh-CN" altLang="en-US" smtClean="0"/>
            </a:fld>
            <a:endParaRPr lang="en-US" altLang="zh-CN"/>
          </a:p>
        </p:txBody>
      </p:sp>
    </p:spTree>
  </p:cSld>
  <p:clrMapOvr>
    <a:masterClrMapping/>
  </p:clrMapOvr>
  <p:transition spd="med">
    <p:fade/>
  </p:transition>
  <p:timing>
    <p:tnLst>
      <p:par>
        <p:cTn id="1" dur="indefinite" restart="never" nodeType="tmRoot"/>
      </p:par>
    </p:tnLst>
  </p:timing>
</p:sld>
</file>

<file path=ppt/tags/tag1.xml><?xml version="1.0" encoding="utf-8"?>
<p:tagLst xmlns:p="http://schemas.openxmlformats.org/presentationml/2006/main">
  <p:tag name="ISPRING_RESOURCE_PATHS_HASH_2" val="48a48a9266c625221f7d86352c6efcfffb3bc8"/>
  <p:tag name="KSO_WPP_MARK_KEY" val="d8f98ad5-df48-47f7-919a-14961d6979c9"/>
  <p:tag name="COMMONDATA" val="eyJoZGlkIjoiZTU4OTdkMDU2Yjk4YWJhZDdhZGFkN2Q4Nzg2NDFlN2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1572</Words>
  <Application>WPS 演示</Application>
  <PresentationFormat>宽屏</PresentationFormat>
  <Paragraphs>60</Paragraphs>
  <Slides>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vt:i4>
      </vt:variant>
    </vt:vector>
  </HeadingPairs>
  <TitlesOfParts>
    <vt:vector size="19" baseType="lpstr">
      <vt:lpstr>Arial</vt:lpstr>
      <vt:lpstr>宋体</vt:lpstr>
      <vt:lpstr>Wingdings</vt:lpstr>
      <vt:lpstr>微软雅黑</vt:lpstr>
      <vt:lpstr>Calibri</vt:lpstr>
      <vt:lpstr>Cambria Math</vt:lpstr>
      <vt:lpstr>等线</vt:lpstr>
      <vt:lpstr>Calibri Light</vt:lpstr>
      <vt:lpstr>等线 Light</vt:lpstr>
      <vt:lpstr>Arial Unicode MS</vt:lpstr>
      <vt:lpstr>Times New Roman</vt:lpstr>
      <vt:lpstr>Impact</vt:lpstr>
      <vt:lpstr>黑体</vt:lpstr>
      <vt:lpstr>Office 主题​​</vt:lpstr>
      <vt:lpstr> 8.2 应用实例</vt:lpstr>
      <vt:lpstr> 8.2 应用实例</vt:lpstr>
      <vt:lpstr> 8.2.1 参数分析</vt:lpstr>
      <vt:lpstr> 8.2.2在线教学分析</vt:lpstr>
      <vt:lpstr> 8.2.3 幸福指数预测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王洪峰</dc:creator>
  <cp:lastModifiedBy>静水</cp:lastModifiedBy>
  <cp:revision>991</cp:revision>
  <dcterms:created xsi:type="dcterms:W3CDTF">2012-10-04T14:52:00Z</dcterms:created>
  <dcterms:modified xsi:type="dcterms:W3CDTF">2026-04-07T03:55:50Z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E89773C4E6FC4876855D6CF13FECD32E_12</vt:lpwstr>
  </property>
  <property fmtid="{D5CDD505-2E9C-101B-9397-08002B2CF9AE}" pid="3" name="KSOProductBuildVer">
    <vt:lpwstr>2052-12.1.0.25225</vt:lpwstr>
  </property>
</Properties>
</file>